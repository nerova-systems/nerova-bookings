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7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1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81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5A44-AC35-1E51-E952-E55DB14B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BA059-4AE9-FC42-2649-D1B4C0A3D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1E428-AFC7-C56C-57DE-54767A4BA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D0435-F810-CB4C-A6BC-3123370D6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26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32FF-2801-C33C-C94F-A9A40221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178CE-94DC-A9D1-215D-909E4CB4A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A6CFA-0C27-E8CA-299F-78EA79DCF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233EA-DDFC-62AB-8923-C7E9B2A3D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8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450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28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567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754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278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961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552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219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65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854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6464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01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67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528670" y="822960"/>
            <a:ext cx="2086661" cy="256032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9525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528670" y="832104"/>
            <a:ext cx="2086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PHASE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1914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We don’t just sell software.</a:t>
            </a:r>
            <a:endParaRPr lang="en-US" sz="3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18315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i="1" dirty="0">
                <a:solidFill>
                  <a:srgbClr val="888888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We run your front desk.</a:t>
            </a:r>
            <a:endParaRPr lang="en-US" sz="3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Nerova replaces the receptionist, the VA, and the admin burden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appointment-based business in Africa.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456432"/>
            <a:ext cx="27432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0" y="3611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 ·  Payments  ·  WhatsApp  ·  AI Front Desk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7091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nerovasystems.com  ·  South Africa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D537A75-848C-6CA8-03EF-603B7F15BDC8}"/>
              </a:ext>
            </a:extLst>
          </p:cNvPr>
          <p:cNvGrpSpPr/>
          <p:nvPr/>
        </p:nvGrpSpPr>
        <p:grpSpPr>
          <a:xfrm>
            <a:off x="3523774" y="374601"/>
            <a:ext cx="1941584" cy="492233"/>
            <a:chOff x="3910576" y="251086"/>
            <a:chExt cx="1322848" cy="336301"/>
          </a:xfrm>
        </p:grpSpPr>
        <p:sp>
          <p:nvSpPr>
            <p:cNvPr id="3" name="Shape 1"/>
            <p:cNvSpPr/>
            <p:nvPr/>
          </p:nvSpPr>
          <p:spPr>
            <a:xfrm>
              <a:off x="3910576" y="251086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 2"/>
            <p:cNvSpPr/>
            <p:nvPr/>
          </p:nvSpPr>
          <p:spPr>
            <a:xfrm>
              <a:off x="3949294" y="283464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PROBLEM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457200" y="1020917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Service businesses are bleeding</a:t>
            </a:r>
            <a:endParaRPr lang="en-US" sz="3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revenue every single day...</a:t>
            </a:r>
            <a:endParaRPr lang="en-US" sz="3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43227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CF356A4-BCA2-1AB9-4B98-9A0EFD4B3852}"/>
              </a:ext>
            </a:extLst>
          </p:cNvPr>
          <p:cNvGrpSpPr/>
          <p:nvPr/>
        </p:nvGrpSpPr>
        <p:grpSpPr>
          <a:xfrm>
            <a:off x="224898" y="2413206"/>
            <a:ext cx="8892830" cy="2276411"/>
            <a:chOff x="224898" y="1687952"/>
            <a:chExt cx="8892830" cy="227641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F6D8C0D-0998-2361-EF1D-3AAE30B253DB}"/>
                </a:ext>
              </a:extLst>
            </p:cNvPr>
            <p:cNvGrpSpPr/>
            <p:nvPr/>
          </p:nvGrpSpPr>
          <p:grpSpPr>
            <a:xfrm>
              <a:off x="224898" y="1687952"/>
              <a:ext cx="8694204" cy="2276411"/>
              <a:chOff x="320040" y="1731461"/>
              <a:chExt cx="8694204" cy="3120758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320040" y="1737360"/>
                <a:ext cx="2057400" cy="3108960"/>
              </a:xfrm>
              <a:prstGeom prst="rect">
                <a:avLst/>
              </a:prstGeom>
              <a:solidFill>
                <a:srgbClr val="1A1A1A"/>
              </a:solidFill>
              <a:ln w="6350">
                <a:solidFill>
                  <a:srgbClr val="2A2A2A"/>
                </a:solidFill>
                <a:prstDash val="solid"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1" name="Shape 8"/>
              <p:cNvSpPr/>
              <p:nvPr/>
            </p:nvSpPr>
            <p:spPr>
              <a:xfrm>
                <a:off x="2532308" y="1743259"/>
                <a:ext cx="2057400" cy="3108960"/>
              </a:xfrm>
              <a:prstGeom prst="rect">
                <a:avLst/>
              </a:prstGeom>
              <a:solidFill>
                <a:srgbClr val="1A1A1A"/>
              </a:solidFill>
              <a:ln w="6350">
                <a:solidFill>
                  <a:srgbClr val="2A2A2A"/>
                </a:solidFill>
                <a:prstDash val="solid"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4" name="Shape 5">
                <a:extLst>
                  <a:ext uri="{FF2B5EF4-FFF2-40B4-BE49-F238E27FC236}">
                    <a16:creationId xmlns:a16="http://schemas.microsoft.com/office/drawing/2014/main" id="{488C3EF6-44FB-6CF8-525E-410D2A6A424C}"/>
                  </a:ext>
                </a:extLst>
              </p:cNvPr>
              <p:cNvSpPr/>
              <p:nvPr/>
            </p:nvSpPr>
            <p:spPr>
              <a:xfrm>
                <a:off x="4744576" y="1731461"/>
                <a:ext cx="2057400" cy="3108960"/>
              </a:xfrm>
              <a:prstGeom prst="rect">
                <a:avLst/>
              </a:prstGeom>
              <a:solidFill>
                <a:srgbClr val="1A1A1A"/>
              </a:solidFill>
              <a:ln w="6350">
                <a:solidFill>
                  <a:srgbClr val="2A2A2A"/>
                </a:solidFill>
                <a:prstDash val="solid"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5" name="Shape 8">
                <a:extLst>
                  <a:ext uri="{FF2B5EF4-FFF2-40B4-BE49-F238E27FC236}">
                    <a16:creationId xmlns:a16="http://schemas.microsoft.com/office/drawing/2014/main" id="{E3260AD9-1DAB-CC15-C1E1-BE0E41626ED8}"/>
                  </a:ext>
                </a:extLst>
              </p:cNvPr>
              <p:cNvSpPr/>
              <p:nvPr/>
            </p:nvSpPr>
            <p:spPr>
              <a:xfrm>
                <a:off x="6956844" y="1743259"/>
                <a:ext cx="2057400" cy="3108960"/>
              </a:xfrm>
              <a:prstGeom prst="rect">
                <a:avLst/>
              </a:prstGeom>
              <a:solidFill>
                <a:srgbClr val="1A1A1A"/>
              </a:solidFill>
              <a:ln w="6350">
                <a:solidFill>
                  <a:srgbClr val="2A2A2A"/>
                </a:solidFill>
                <a:prstDash val="solid"/>
              </a:ln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F6E2F21-D99C-5219-4F9D-BE282413DF5D}"/>
                </a:ext>
              </a:extLst>
            </p:cNvPr>
            <p:cNvGrpSpPr/>
            <p:nvPr/>
          </p:nvGrpSpPr>
          <p:grpSpPr>
            <a:xfrm>
              <a:off x="366630" y="1850626"/>
              <a:ext cx="2057400" cy="2105131"/>
              <a:chOff x="457200" y="1874520"/>
              <a:chExt cx="2057400" cy="2105131"/>
            </a:xfrm>
          </p:grpSpPr>
          <p:pic>
            <p:nvPicPr>
              <p:cNvPr id="8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103" y="1874520"/>
                <a:ext cx="256032" cy="256032"/>
              </a:xfrm>
              <a:prstGeom prst="rect">
                <a:avLst/>
              </a:prstGeom>
            </p:spPr>
          </p:pic>
          <p:sp>
            <p:nvSpPr>
              <p:cNvPr id="9" name="Text 6"/>
              <p:cNvSpPr/>
              <p:nvPr/>
            </p:nvSpPr>
            <p:spPr>
              <a:xfrm>
                <a:off x="457200" y="2212848"/>
                <a:ext cx="20574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Bookings &amp; WhatsApp chaos</a:t>
                </a:r>
                <a:endParaRPr lang="en-US" sz="1200" dirty="0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457200" y="2578608"/>
                <a:ext cx="2057400" cy="1401043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t"/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Buried in threads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 record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 official confirmation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 capacity management</a:t>
                </a:r>
                <a:b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</a:br>
                <a:endParaRPr lang="en-US" sz="10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Missed Bookings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Double Bookings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Customer Churn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algn="l"/>
                <a:endParaRPr lang="en-US" sz="10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l">
                  <a:buNone/>
                </a:pPr>
                <a:endParaRPr lang="en-US" sz="1050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B64B81A-0C99-6948-87FA-7BB91F983D15}"/>
                </a:ext>
              </a:extLst>
            </p:cNvPr>
            <p:cNvGrpSpPr/>
            <p:nvPr/>
          </p:nvGrpSpPr>
          <p:grpSpPr>
            <a:xfrm>
              <a:off x="2578898" y="1838828"/>
              <a:ext cx="2057400" cy="2020980"/>
              <a:chOff x="2697480" y="1874520"/>
              <a:chExt cx="2057400" cy="2020980"/>
            </a:xfrm>
          </p:grpSpPr>
          <p:pic>
            <p:nvPicPr>
              <p:cNvPr id="12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7480" y="1874520"/>
                <a:ext cx="256032" cy="256032"/>
              </a:xfrm>
              <a:prstGeom prst="rect">
                <a:avLst/>
              </a:prstGeom>
            </p:spPr>
          </p:pic>
          <p:sp>
            <p:nvSpPr>
              <p:cNvPr id="13" name="Text 9"/>
              <p:cNvSpPr/>
              <p:nvPr/>
            </p:nvSpPr>
            <p:spPr>
              <a:xfrm>
                <a:off x="2697480" y="2230839"/>
                <a:ext cx="20574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Payment nightmare</a:t>
                </a:r>
                <a:endParaRPr lang="en-US" sz="1200" dirty="0"/>
              </a:p>
            </p:txBody>
          </p:sp>
          <p:sp>
            <p:nvSpPr>
              <p:cNvPr id="14" name="Text 10"/>
              <p:cNvSpPr/>
              <p:nvPr/>
            </p:nvSpPr>
            <p:spPr>
              <a:xfrm>
                <a:off x="2697480" y="2578607"/>
                <a:ext cx="2057400" cy="1316893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t"/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Deposits processed manually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Time consuming spreadsheets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Duplicate entries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 prone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Impossible to balance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8AC3B5C-FC37-17BC-56C5-064D33EA5274}"/>
                </a:ext>
              </a:extLst>
            </p:cNvPr>
            <p:cNvGrpSpPr/>
            <p:nvPr/>
          </p:nvGrpSpPr>
          <p:grpSpPr>
            <a:xfrm>
              <a:off x="4791166" y="1838828"/>
              <a:ext cx="2057400" cy="1955667"/>
              <a:chOff x="4937760" y="1874520"/>
              <a:chExt cx="2057400" cy="1955667"/>
            </a:xfrm>
          </p:grpSpPr>
          <p:pic>
            <p:nvPicPr>
              <p:cNvPr id="16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7760" y="1874520"/>
                <a:ext cx="256032" cy="256032"/>
              </a:xfrm>
              <a:prstGeom prst="rect">
                <a:avLst/>
              </a:prstGeom>
            </p:spPr>
          </p:pic>
          <p:sp>
            <p:nvSpPr>
              <p:cNvPr id="17" name="Text 12"/>
              <p:cNvSpPr/>
              <p:nvPr/>
            </p:nvSpPr>
            <p:spPr>
              <a:xfrm>
                <a:off x="4937760" y="2224646"/>
                <a:ext cx="20574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No-shows &amp; cancellations</a:t>
                </a:r>
                <a:endParaRPr lang="en-US" sz="1200" dirty="0"/>
              </a:p>
            </p:txBody>
          </p:sp>
          <p:sp>
            <p:nvSpPr>
              <p:cNvPr id="18" name="Text 13"/>
              <p:cNvSpPr/>
              <p:nvPr/>
            </p:nvSpPr>
            <p:spPr>
              <a:xfrm>
                <a:off x="4937760" y="2578608"/>
                <a:ext cx="2057400" cy="1251579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t"/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Manual reminders to clients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Human dependency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Easy to miss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Difficult to manage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No-shows cause revenue loss  </a:t>
                </a:r>
                <a:endParaRPr lang="en-US" sz="1050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2ACFDE1-C0BA-C153-94F6-845950CC6274}"/>
                </a:ext>
              </a:extLst>
            </p:cNvPr>
            <p:cNvGrpSpPr/>
            <p:nvPr/>
          </p:nvGrpSpPr>
          <p:grpSpPr>
            <a:xfrm>
              <a:off x="6990298" y="1838828"/>
              <a:ext cx="2127430" cy="2020979"/>
              <a:chOff x="7152604" y="1907041"/>
              <a:chExt cx="2127430" cy="2020979"/>
            </a:xfrm>
          </p:grpSpPr>
          <p:pic>
            <p:nvPicPr>
              <p:cNvPr id="20" name="Image 3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2604" y="1907041"/>
                <a:ext cx="256032" cy="256032"/>
              </a:xfrm>
              <a:prstGeom prst="rect">
                <a:avLst/>
              </a:prstGeom>
            </p:spPr>
          </p:pic>
          <p:sp>
            <p:nvSpPr>
              <p:cNvPr id="21" name="Text 15"/>
              <p:cNvSpPr/>
              <p:nvPr/>
            </p:nvSpPr>
            <p:spPr>
              <a:xfrm>
                <a:off x="7222634" y="2248537"/>
                <a:ext cx="20574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Wrong market tools built</a:t>
                </a:r>
                <a:endParaRPr lang="en-US" sz="1200" dirty="0"/>
              </a:p>
            </p:txBody>
          </p:sp>
          <p:sp>
            <p:nvSpPr>
              <p:cNvPr id="22" name="Text 16"/>
              <p:cNvSpPr/>
              <p:nvPr/>
            </p:nvSpPr>
            <p:spPr>
              <a:xfrm>
                <a:off x="7178040" y="2578607"/>
                <a:ext cx="2057400" cy="1349413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0" bIns="0" rtlCol="0" anchor="t"/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Not purpose-built for SA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Prices displayed in US/EU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Incorrect currency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Incorrect vernacular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 SA payment integration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Low app adoption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4200" y="572712"/>
            <a:ext cx="80909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Software didn't solve this.</a:t>
            </a:r>
            <a:endParaRPr lang="en-US" sz="3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A service will.</a:t>
            </a:r>
            <a:endParaRPr lang="en-US" sz="3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7918" y="2016407"/>
            <a:ext cx="4572016" cy="63965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641438" y="2055709"/>
            <a:ext cx="1055080" cy="23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1107" y="2263564"/>
            <a:ext cx="4220323" cy="23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→ SaaS software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918" y="2885980"/>
            <a:ext cx="4572016" cy="63965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41107" y="2923101"/>
            <a:ext cx="1055080" cy="23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1106" y="3113002"/>
            <a:ext cx="4220323" cy="23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software → AI copilots (tools that help)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918" y="3755283"/>
            <a:ext cx="4902380" cy="82074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515917" y="3755283"/>
            <a:ext cx="56566" cy="820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09086" y="3792701"/>
            <a:ext cx="1131318" cy="30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Now</a:t>
            </a:r>
            <a:endParaRPr lang="en-US" sz="105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6471" y="4119467"/>
            <a:ext cx="4525274" cy="30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ea typeface="Georgia" pitchFamily="34" charset="-122"/>
                <a:cs typeface="Aharoni" panose="02010803020104030203" pitchFamily="2" charset="-79"/>
              </a:rPr>
              <a:t>AI-native companies that sell the service, not the tool</a:t>
            </a:r>
            <a:endParaRPr lang="en-US" sz="1400" dirty="0">
              <a:cs typeface="Aharoni" panose="02010803020104030203" pitchFamily="2" charset="-79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1FE6FE-EDBB-DC3B-F005-6D223E61203F}"/>
              </a:ext>
            </a:extLst>
          </p:cNvPr>
          <p:cNvGrpSpPr/>
          <p:nvPr/>
        </p:nvGrpSpPr>
        <p:grpSpPr>
          <a:xfrm>
            <a:off x="6424268" y="4119467"/>
            <a:ext cx="1941584" cy="492233"/>
            <a:chOff x="3910576" y="251086"/>
            <a:chExt cx="1322848" cy="336301"/>
          </a:xfrm>
        </p:grpSpPr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5BA32679-12B2-701E-7018-DF4ABE41AA61}"/>
                </a:ext>
              </a:extLst>
            </p:cNvPr>
            <p:cNvSpPr/>
            <p:nvPr/>
          </p:nvSpPr>
          <p:spPr>
            <a:xfrm>
              <a:off x="3910576" y="251086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18006527-1B26-EB64-5068-44635189A76E}"/>
                </a:ext>
              </a:extLst>
            </p:cNvPr>
            <p:cNvSpPr/>
            <p:nvPr/>
          </p:nvSpPr>
          <p:spPr>
            <a:xfrm>
              <a:off x="3949294" y="283464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OPPORTUNITY</a:t>
              </a:r>
              <a:endParaRPr lang="en-US" sz="1200" dirty="0"/>
            </a:p>
          </p:txBody>
        </p:sp>
      </p:grpSp>
      <p:pic>
        <p:nvPicPr>
          <p:cNvPr id="27" name="Graphic 26" descr="Lights On with solid fill">
            <a:extLst>
              <a:ext uri="{FF2B5EF4-FFF2-40B4-BE49-F238E27FC236}">
                <a16:creationId xmlns:a16="http://schemas.microsoft.com/office/drawing/2014/main" id="{D3E150FB-5EC1-331A-568F-ECA04F06D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5644" y="1769593"/>
            <a:ext cx="2158832" cy="2158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>
            <a:extLst>
              <a:ext uri="{FF2B5EF4-FFF2-40B4-BE49-F238E27FC236}">
                <a16:creationId xmlns:a16="http://schemas.microsoft.com/office/drawing/2014/main" id="{DA05C2D1-E3D9-3EE0-1FCF-A65E381CF792}"/>
              </a:ext>
            </a:extLst>
          </p:cNvPr>
          <p:cNvSpPr/>
          <p:nvPr/>
        </p:nvSpPr>
        <p:spPr>
          <a:xfrm>
            <a:off x="474756" y="2096384"/>
            <a:ext cx="5080800" cy="2474404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74756" y="902665"/>
            <a:ext cx="792360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total spend on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is much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than spend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software.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5639" y="2137715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labour roles in appointment-based SME’s</a:t>
            </a:r>
          </a:p>
          <a:p>
            <a:pPr marL="0" indent="0">
              <a:buNone/>
            </a:pPr>
            <a:endParaRPr lang="en-US" sz="12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themselves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68652387-5049-A974-0704-AC4A9BED1008}"/>
              </a:ext>
            </a:extLst>
          </p:cNvPr>
          <p:cNvSpPr/>
          <p:nvPr/>
        </p:nvSpPr>
        <p:spPr>
          <a:xfrm>
            <a:off x="474756" y="569982"/>
            <a:ext cx="80909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Limitations replaced with growth.</a:t>
            </a:r>
            <a:endParaRPr lang="en-US" sz="3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1" name="Graphic 10" descr="Bar graph with upward trend with solid fill">
            <a:extLst>
              <a:ext uri="{FF2B5EF4-FFF2-40B4-BE49-F238E27FC236}">
                <a16:creationId xmlns:a16="http://schemas.microsoft.com/office/drawing/2014/main" id="{49D4E9D8-CC96-538F-1A5F-D18653A36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1317" y="2365705"/>
            <a:ext cx="2474404" cy="247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9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57200" y="9471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One front desk platform. </a:t>
            </a:r>
          </a:p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Three layers of automation.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7916" y="1992854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97180" y="2176272"/>
            <a:ext cx="2606040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222330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30" y="2465182"/>
            <a:ext cx="387659" cy="3876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8286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scheduling platform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3230" y="3166552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based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Team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Management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</a:t>
            </a:r>
          </a:p>
        </p:txBody>
      </p:sp>
      <p:sp>
        <p:nvSpPr>
          <p:cNvPr id="12" name="Shape 9"/>
          <p:cNvSpPr/>
          <p:nvPr/>
        </p:nvSpPr>
        <p:spPr>
          <a:xfrm>
            <a:off x="3131820" y="2176272"/>
            <a:ext cx="2606040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328626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542" y="2425183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0542" y="2806782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Paystack-native payments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80410" y="3341095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upfront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post-session payment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commitment enforced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55304" y="2176272"/>
            <a:ext cx="2617196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4"/>
          <p:cNvSpPr/>
          <p:nvPr/>
        </p:nvSpPr>
        <p:spPr>
          <a:xfrm>
            <a:off x="6115323" y="219978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227" y="2453070"/>
            <a:ext cx="355706" cy="3557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77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Paystack-native payments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26480" y="3345972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upfront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post-session payment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commitment enforced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28E5AD-C4CB-D1EB-1A64-12A9FD014520}"/>
              </a:ext>
            </a:extLst>
          </p:cNvPr>
          <p:cNvGrpSpPr/>
          <p:nvPr/>
        </p:nvGrpSpPr>
        <p:grpSpPr>
          <a:xfrm>
            <a:off x="3601208" y="346742"/>
            <a:ext cx="1941584" cy="492233"/>
            <a:chOff x="2345798" y="232052"/>
            <a:chExt cx="1322848" cy="336301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EB079702-BEEA-9A2E-CBC9-92AA94812517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944368CB-EFC7-2D19-4419-CD60755BBF1A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SOLUTION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A4FD6-64AC-7B76-AC27-E6B31802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CC54AC-2EE1-ED2F-6949-C27CF0B6B7E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DC9D64-DC63-7EF3-C282-3CE1BDF10547}"/>
              </a:ext>
            </a:extLst>
          </p:cNvPr>
          <p:cNvSpPr/>
          <p:nvPr/>
        </p:nvSpPr>
        <p:spPr>
          <a:xfrm>
            <a:off x="457200" y="9471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One front desk platform. </a:t>
            </a:r>
          </a:p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Three layers of automation.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94F9F9-E069-1504-C474-031DC0B20CC2}"/>
              </a:ext>
            </a:extLst>
          </p:cNvPr>
          <p:cNvSpPr/>
          <p:nvPr/>
        </p:nvSpPr>
        <p:spPr>
          <a:xfrm>
            <a:off x="327916" y="1992854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540770D-9A62-5CC8-55D0-E0A107BC9558}"/>
              </a:ext>
            </a:extLst>
          </p:cNvPr>
          <p:cNvSpPr/>
          <p:nvPr/>
        </p:nvSpPr>
        <p:spPr>
          <a:xfrm>
            <a:off x="411480" y="28286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7A8855C-986D-8127-87B8-E688EAB7186D}"/>
              </a:ext>
            </a:extLst>
          </p:cNvPr>
          <p:cNvSpPr/>
          <p:nvPr/>
        </p:nvSpPr>
        <p:spPr>
          <a:xfrm>
            <a:off x="413230" y="3166552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/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0D2B85D-7DB8-4F40-D8A2-D74130A88C4D}"/>
              </a:ext>
            </a:extLst>
          </p:cNvPr>
          <p:cNvSpPr/>
          <p:nvPr/>
        </p:nvSpPr>
        <p:spPr>
          <a:xfrm>
            <a:off x="328626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1EAB4D3-110A-0B99-B33F-283DF173E351}"/>
              </a:ext>
            </a:extLst>
          </p:cNvPr>
          <p:cNvSpPr/>
          <p:nvPr/>
        </p:nvSpPr>
        <p:spPr>
          <a:xfrm>
            <a:off x="3240542" y="2806782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ADC400A-5934-0C35-A92A-78E858D08884}"/>
              </a:ext>
            </a:extLst>
          </p:cNvPr>
          <p:cNvSpPr/>
          <p:nvPr/>
        </p:nvSpPr>
        <p:spPr>
          <a:xfrm>
            <a:off x="3280410" y="3341095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/>
            <a:endParaRPr lang="en-US" sz="11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B9D91F7-88DC-7B1F-2EF0-ECFF96FB1FC9}"/>
              </a:ext>
            </a:extLst>
          </p:cNvPr>
          <p:cNvSpPr/>
          <p:nvPr/>
        </p:nvSpPr>
        <p:spPr>
          <a:xfrm>
            <a:off x="5966460" y="2176272"/>
            <a:ext cx="2606040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F13ADC7-6340-6E7B-614F-AEDB1161DBA5}"/>
              </a:ext>
            </a:extLst>
          </p:cNvPr>
          <p:cNvSpPr/>
          <p:nvPr/>
        </p:nvSpPr>
        <p:spPr>
          <a:xfrm>
            <a:off x="6115323" y="219978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C07509C2-1F93-884A-8CE0-0182EDF2B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227" y="2453070"/>
            <a:ext cx="355706" cy="355706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AF95A1D1-4EC8-A3EA-6693-EFB99AC8CE9C}"/>
              </a:ext>
            </a:extLst>
          </p:cNvPr>
          <p:cNvSpPr/>
          <p:nvPr/>
        </p:nvSpPr>
        <p:spPr>
          <a:xfrm>
            <a:off x="6126480" y="277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7455AA2-15D8-457B-E7F8-FC3EB695F137}"/>
              </a:ext>
            </a:extLst>
          </p:cNvPr>
          <p:cNvSpPr/>
          <p:nvPr/>
        </p:nvSpPr>
        <p:spPr>
          <a:xfrm>
            <a:off x="6126480" y="3345972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booking experience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book, confirm, and receive reminders without leaving the app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most  SA citizens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7DDA37-C371-1F43-E66B-64DC213FA216}"/>
              </a:ext>
            </a:extLst>
          </p:cNvPr>
          <p:cNvGrpSpPr/>
          <p:nvPr/>
        </p:nvGrpSpPr>
        <p:grpSpPr>
          <a:xfrm>
            <a:off x="3601208" y="346742"/>
            <a:ext cx="1941584" cy="492233"/>
            <a:chOff x="2345798" y="232052"/>
            <a:chExt cx="1322848" cy="336301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19B2CECB-042D-12B5-3ADF-688E16F16ABD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095A79CD-E0BB-DEB9-D6AD-8DF7C310DAC7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SOLUTION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7298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7230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Every layer compounds.</a:t>
            </a:r>
            <a:endParaRPr lang="en-US" sz="3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40159"/>
            <a:ext cx="42924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1376735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 DESK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47397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agent · Business intelligence · Ops automation · Proactive insights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993392"/>
            <a:ext cx="0" cy="5486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57200" y="2044247"/>
            <a:ext cx="4292415" cy="64008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40080" y="2080823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351485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· Packages · Shopping · Reviews · Gift cards · More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697480"/>
            <a:ext cx="0" cy="5486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57200" y="2748335"/>
            <a:ext cx="4292415" cy="56692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40080" y="278491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FLOWS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0204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booking, confirmations, reminders — inside WhatsApp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3328416"/>
            <a:ext cx="0" cy="5486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57200" y="3379271"/>
            <a:ext cx="4292415" cy="566928"/>
          </a:xfrm>
          <a:prstGeom prst="rect">
            <a:avLst/>
          </a:prstGeom>
          <a:solidFill>
            <a:srgbClr val="131313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40080" y="341584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PAYMENTS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6513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· Upfront · Post-session · NerovaPOS tap-to-phone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3959352"/>
            <a:ext cx="0" cy="5486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457200" y="4010207"/>
            <a:ext cx="4292415" cy="566928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40080" y="4046783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INFRASTRUCTURE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823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· Event types · Round-robin · Workflows · Webhooks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6547" y="1157523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valuable.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replace an entire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function.</a:t>
            </a:r>
            <a:endParaRPr lang="en-US" sz="10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BA49D0-730C-8146-4A6F-9C51EAC88874}"/>
              </a:ext>
            </a:extLst>
          </p:cNvPr>
          <p:cNvGrpSpPr/>
          <p:nvPr/>
        </p:nvGrpSpPr>
        <p:grpSpPr>
          <a:xfrm>
            <a:off x="6004235" y="4085276"/>
            <a:ext cx="1941584" cy="492233"/>
            <a:chOff x="2345798" y="232052"/>
            <a:chExt cx="1322848" cy="336301"/>
          </a:xfrm>
        </p:grpSpPr>
        <p:sp>
          <p:nvSpPr>
            <p:cNvPr id="29" name="Shape 1">
              <a:extLst>
                <a:ext uri="{FF2B5EF4-FFF2-40B4-BE49-F238E27FC236}">
                  <a16:creationId xmlns:a16="http://schemas.microsoft.com/office/drawing/2014/main" id="{C04D99B9-5C24-0D52-DF8C-5BD209FEF597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Text 2">
              <a:extLst>
                <a:ext uri="{FF2B5EF4-FFF2-40B4-BE49-F238E27FC236}">
                  <a16:creationId xmlns:a16="http://schemas.microsoft.com/office/drawing/2014/main" id="{13334143-0595-C0F0-FE95-DE35DCE5A4D7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PLATFORM</a:t>
              </a:r>
              <a:endParaRPr lang="en-US" sz="1200" dirty="0"/>
            </a:p>
          </p:txBody>
        </p:sp>
      </p:grpSp>
      <p:pic>
        <p:nvPicPr>
          <p:cNvPr id="32" name="Graphic 31" descr="Internet with solid fill">
            <a:extLst>
              <a:ext uri="{FF2B5EF4-FFF2-40B4-BE49-F238E27FC236}">
                <a16:creationId xmlns:a16="http://schemas.microsoft.com/office/drawing/2014/main" id="{8CE7A1C4-C39E-10B3-4FA3-CBE04D9B2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717" y="2372261"/>
            <a:ext cx="1722619" cy="1722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34340" y="847933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Turn on what your business needs.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60220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457200" y="1815668"/>
            <a:ext cx="2606040" cy="117043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542032" y="190710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1F2F1F"/>
          </a:solidFill>
          <a:ln w="635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542032" y="19071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2539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2177498"/>
            <a:ext cx="260604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Rewards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2451818"/>
            <a:ext cx="2606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tiers, redemption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clients coming back automatically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815668"/>
            <a:ext cx="2606040" cy="117043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5330952" y="190710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1F2F1F"/>
          </a:solidFill>
          <a:ln w="635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5330952" y="19071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92539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10712" y="2193769"/>
            <a:ext cx="260604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Integration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92424" y="2445005"/>
            <a:ext cx="2606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products alongside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Retail-ready for salons and spas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35040" y="1815668"/>
            <a:ext cx="2606040" cy="117043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6"/>
          <p:cNvSpPr/>
          <p:nvPr/>
        </p:nvSpPr>
        <p:spPr>
          <a:xfrm>
            <a:off x="8119872" y="190710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1F2F1F"/>
          </a:solidFill>
          <a:ln w="635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7"/>
          <p:cNvSpPr/>
          <p:nvPr/>
        </p:nvSpPr>
        <p:spPr>
          <a:xfrm>
            <a:off x="8119872" y="19071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925396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81344" y="2188973"/>
            <a:ext cx="260604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Memberships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199632" y="2450931"/>
            <a:ext cx="2606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services into packages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memberships with auto-billing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214700"/>
            <a:ext cx="2606040" cy="117043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1"/>
          <p:cNvSpPr/>
          <p:nvPr/>
        </p:nvSpPr>
        <p:spPr>
          <a:xfrm>
            <a:off x="2542032" y="3306140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1F2F1F"/>
          </a:solidFill>
          <a:ln w="635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2"/>
          <p:cNvSpPr/>
          <p:nvPr/>
        </p:nvSpPr>
        <p:spPr>
          <a:xfrm>
            <a:off x="2542032" y="33061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311066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792" y="3573118"/>
            <a:ext cx="260604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Reputation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21792" y="3856582"/>
            <a:ext cx="2606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post-visit review requests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WhatsApp native.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46120" y="3214700"/>
            <a:ext cx="2606040" cy="117043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26"/>
          <p:cNvSpPr/>
          <p:nvPr/>
        </p:nvSpPr>
        <p:spPr>
          <a:xfrm>
            <a:off x="5330952" y="3306140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1F2F1F"/>
          </a:solidFill>
          <a:ln w="635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27"/>
          <p:cNvSpPr/>
          <p:nvPr/>
        </p:nvSpPr>
        <p:spPr>
          <a:xfrm>
            <a:off x="5330952" y="33061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324428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429000" y="35890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&amp; Vouchers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392424" y="38450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gift cards redeemable on booking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new client acquisition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035040" y="3214700"/>
            <a:ext cx="2606040" cy="117043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1"/>
          <p:cNvSpPr/>
          <p:nvPr/>
        </p:nvSpPr>
        <p:spPr>
          <a:xfrm>
            <a:off x="8119872" y="3306140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1F2F1F"/>
          </a:solidFill>
          <a:ln w="635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2"/>
          <p:cNvSpPr/>
          <p:nvPr/>
        </p:nvSpPr>
        <p:spPr>
          <a:xfrm>
            <a:off x="8119872" y="33061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324428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181344" y="3596147"/>
            <a:ext cx="260604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181344" y="38450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schedules, commissions, performance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back-office control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457200" y="456308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are vertical-aware — a salon sees different defaults than a personal trainer or tutor.</a:t>
            </a:r>
            <a:endParaRPr lang="en-US" sz="9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194A57-6F81-A50D-6D63-0ED361368D28}"/>
              </a:ext>
            </a:extLst>
          </p:cNvPr>
          <p:cNvGrpSpPr/>
          <p:nvPr/>
        </p:nvGrpSpPr>
        <p:grpSpPr>
          <a:xfrm>
            <a:off x="3601208" y="474457"/>
            <a:ext cx="1941584" cy="492233"/>
            <a:chOff x="2345798" y="232052"/>
            <a:chExt cx="1322848" cy="336301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D3F35C27-CDD0-4EF2-4DE0-0FB5A46E7C2A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Text 2">
              <a:extLst>
                <a:ext uri="{FF2B5EF4-FFF2-40B4-BE49-F238E27FC236}">
                  <a16:creationId xmlns:a16="http://schemas.microsoft.com/office/drawing/2014/main" id="{36037EB7-B853-555A-E0FC-7011C903739F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EXTENSIONS HUB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10760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Your business runs on its own.</a:t>
            </a:r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02230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29185" y="2102663"/>
            <a:ext cx="1920240" cy="213055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5" y="2239823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49165" y="2482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 Agent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9165" y="2930195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inbound WhatsApp conversations autonomously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Qualifies, books, reschedules, and cancels on the owner's behalf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only when human judgement is needed</a:t>
            </a:r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7" y="36114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76657" y="34916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23745" y="2102663"/>
            <a:ext cx="1920240" cy="213054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5" y="2239823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660905" y="2477567"/>
            <a:ext cx="19202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660905" y="292493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pattern detection and proactive alerts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and revenue trend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scoring and at-risk client flags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779777" y="36114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2871217" y="34916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718305" y="2102663"/>
            <a:ext cx="1920240" cy="21488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5" y="2239823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55465" y="2476459"/>
            <a:ext cx="19202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Automation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4855465" y="293338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schedule cleanup and drift correction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 recovery and retry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 timing based on client behaviour</a:t>
            </a: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974337" y="36114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5065777" y="34916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6912865" y="2102663"/>
            <a:ext cx="1920240" cy="214883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5" y="2239823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050025" y="2482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Insights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7050025" y="2921051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business summary delivered via WhatsApp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actions: "You have 3 open slots Friday — send a promo?“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review nudges triggered by booking milestones</a:t>
            </a: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7168897" y="36114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7260337" y="3491623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457200" y="4616249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orchestrates the deterministic core — it never replaces it. Core booking and billing always work, even if AI is unavailable.</a:t>
            </a:r>
            <a:endParaRPr lang="en-US" sz="85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5BDD0E2-91E9-39C0-E2F2-29D5FCDBEBA2}"/>
              </a:ext>
            </a:extLst>
          </p:cNvPr>
          <p:cNvGrpSpPr/>
          <p:nvPr/>
        </p:nvGrpSpPr>
        <p:grpSpPr>
          <a:xfrm>
            <a:off x="3601208" y="552598"/>
            <a:ext cx="1941584" cy="492233"/>
            <a:chOff x="2345798" y="232052"/>
            <a:chExt cx="1322848" cy="336301"/>
          </a:xfrm>
        </p:grpSpPr>
        <p:sp>
          <p:nvSpPr>
            <p:cNvPr id="55" name="Shape 1">
              <a:extLst>
                <a:ext uri="{FF2B5EF4-FFF2-40B4-BE49-F238E27FC236}">
                  <a16:creationId xmlns:a16="http://schemas.microsoft.com/office/drawing/2014/main" id="{54176357-BB2B-7C67-8CF1-ACC6D82CC29A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56" name="Text 2">
              <a:extLst>
                <a:ext uri="{FF2B5EF4-FFF2-40B4-BE49-F238E27FC236}">
                  <a16:creationId xmlns:a16="http://schemas.microsoft.com/office/drawing/2014/main" id="{FA94407D-A783-D4CF-F44E-59C2ECCCDBAC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FRONT DESK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76866" y="27966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A massive market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already paying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for inferior tools.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6866" y="1394464"/>
            <a:ext cx="4195134" cy="165147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76866" y="183158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30,000+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 flipV="1">
            <a:off x="2482948" y="1577344"/>
            <a:ext cx="0" cy="1299498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10" name="Text 8"/>
          <p:cNvSpPr/>
          <p:nvPr/>
        </p:nvSpPr>
        <p:spPr>
          <a:xfrm>
            <a:off x="2479986" y="2034545"/>
            <a:ext cx="2011680" cy="82296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hair &amp; beauty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in South Africa alone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80981" y="3515104"/>
            <a:ext cx="26624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South Africa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Nigeria, Kenya, Ghana (Paystack footprint)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WhatsApp-dominant EU markets</a:t>
            </a:r>
            <a:endParaRPr lang="en-US" sz="9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3B1FF2-327D-04CC-9F74-3D2092954203}"/>
              </a:ext>
            </a:extLst>
          </p:cNvPr>
          <p:cNvGrpSpPr/>
          <p:nvPr/>
        </p:nvGrpSpPr>
        <p:grpSpPr>
          <a:xfrm>
            <a:off x="5638879" y="4091944"/>
            <a:ext cx="2662430" cy="492233"/>
            <a:chOff x="2345798" y="232052"/>
            <a:chExt cx="1322848" cy="336301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5636648B-31EE-B4A6-07E8-B738C54CB019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2DABDBCE-1F65-9050-1C88-169E3EC6D9E4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SIZE AND EXPANSION</a:t>
              </a:r>
              <a:endParaRPr lang="en-US" sz="1200" dirty="0"/>
            </a:p>
          </p:txBody>
        </p:sp>
      </p:grpSp>
      <p:sp>
        <p:nvSpPr>
          <p:cNvPr id="28" name="Shape 9">
            <a:extLst>
              <a:ext uri="{FF2B5EF4-FFF2-40B4-BE49-F238E27FC236}">
                <a16:creationId xmlns:a16="http://schemas.microsoft.com/office/drawing/2014/main" id="{B3D49908-446B-32FF-328C-F63C978836B0}"/>
              </a:ext>
            </a:extLst>
          </p:cNvPr>
          <p:cNvSpPr/>
          <p:nvPr/>
        </p:nvSpPr>
        <p:spPr>
          <a:xfrm>
            <a:off x="376865" y="3183101"/>
            <a:ext cx="4195134" cy="165147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93AFE6E5-299C-6A08-E4E1-E028DB485958}"/>
              </a:ext>
            </a:extLst>
          </p:cNvPr>
          <p:cNvSpPr/>
          <p:nvPr/>
        </p:nvSpPr>
        <p:spPr>
          <a:xfrm>
            <a:off x="424067" y="3620219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100M+</a:t>
            </a:r>
            <a:endParaRPr lang="en-US" sz="34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E057032B-B9B8-C49E-9CFC-35450A8AE48F}"/>
              </a:ext>
            </a:extLst>
          </p:cNvPr>
          <p:cNvSpPr/>
          <p:nvPr/>
        </p:nvSpPr>
        <p:spPr>
          <a:xfrm flipV="1">
            <a:off x="2482948" y="3431782"/>
            <a:ext cx="0" cy="1234439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2EF27662-8DE0-12B5-B8A1-866F3A54C6A2}"/>
              </a:ext>
            </a:extLst>
          </p:cNvPr>
          <p:cNvSpPr/>
          <p:nvPr/>
        </p:nvSpPr>
        <p:spPr>
          <a:xfrm>
            <a:off x="2361876" y="3812067"/>
            <a:ext cx="2011680" cy="82296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users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950" dirty="0"/>
          </a:p>
        </p:txBody>
      </p:sp>
      <p:sp>
        <p:nvSpPr>
          <p:cNvPr id="36" name="Text 18"/>
          <p:cNvSpPr/>
          <p:nvPr/>
        </p:nvSpPr>
        <p:spPr>
          <a:xfrm>
            <a:off x="2560320" y="331470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pic>
        <p:nvPicPr>
          <p:cNvPr id="40" name="Graphic 39" descr="Earth globe: Africa and Europe with solid fill">
            <a:extLst>
              <a:ext uri="{FF2B5EF4-FFF2-40B4-BE49-F238E27FC236}">
                <a16:creationId xmlns:a16="http://schemas.microsoft.com/office/drawing/2014/main" id="{151178C6-B618-805F-78E8-7228906EE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490" y="1348744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9436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The demand is already here.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77640" cy="310896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" y="2165474"/>
            <a:ext cx="3566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interviews with nail specialists and hair salon owners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validated directly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assumptions</a:t>
            </a:r>
          </a:p>
          <a:p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salons actively asking the founder when the product is ready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pull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interest</a:t>
            </a:r>
          </a:p>
          <a:p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already using Calendly and Fresha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willingness to pay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displacement, not education</a:t>
            </a:r>
            <a:endParaRPr lang="en-US" sz="1050" dirty="0"/>
          </a:p>
          <a:p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9809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73075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3977640" cy="310896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84632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Proof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Booksy — salon appointment software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5237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$70M+  ·  100k+ businesses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852928"/>
            <a:ext cx="34747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846320" y="2944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Fresha — free for salons, fees on payments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2552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Valued at $1B+  ·  Not localised for SA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584448"/>
            <a:ext cx="34747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892040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integrates WhatsApp Flows for client focused interfaces.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of them are focused to automate the admin with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Nerova is the SA-native and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powered version — and sells the service, not the tool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b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4AC34B-25E5-9D9E-7F12-66C767A6C11E}"/>
              </a:ext>
            </a:extLst>
          </p:cNvPr>
          <p:cNvGrpSpPr/>
          <p:nvPr/>
        </p:nvGrpSpPr>
        <p:grpSpPr>
          <a:xfrm>
            <a:off x="3695714" y="379077"/>
            <a:ext cx="2026892" cy="492233"/>
            <a:chOff x="2345798" y="232052"/>
            <a:chExt cx="1322848" cy="336301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392FE4E5-C567-484A-4DF6-F501D04CFCDA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03E44DE8-BD87-23AC-43EB-94128D1A02D0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VALIDATION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8228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How it will work.</a:t>
            </a:r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41704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292608" cy="292608"/>
          </a:xfrm>
          <a:prstGeom prst="line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1837944"/>
            <a:ext cx="0" cy="402336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60120" y="1472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Migration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7465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drops their CSV export from their old software. Our AI deterministically maps clients, services, and history into Nerova instantly. Paystack connects, WhatsApp Flow activates.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292608" cy="292608"/>
          </a:xfrm>
          <a:prstGeom prst="line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" y="2542032"/>
            <a:ext cx="0" cy="402336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6012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activate automatically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505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awarded. Review request queued. Package balance updated. Membership billed. All automatic.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292608" cy="292608"/>
          </a:xfrm>
          <a:prstGeom prst="line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5720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" y="3246120"/>
            <a:ext cx="0" cy="402336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books via WhatsApp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Flow guides client through service selection, time slot, and deposit payment — entirely inside WhatsApp.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292608" cy="292608"/>
          </a:xfrm>
          <a:prstGeom prst="line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" y="3950208"/>
            <a:ext cx="0" cy="402336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6012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 &amp; paid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collected via Paystack. Confirmed in back-office. Automated reminders sent. No-show risk eliminated.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292608" cy="292608"/>
          </a:xfrm>
          <a:prstGeom prst="line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5720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4288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 Desk takes over ops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5628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agent handles inbound. Insights surface patterns. Automation handles exceptions. Owner focuses on craft.</a:t>
            </a:r>
            <a:endParaRPr lang="en-US" sz="95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359FA4-522D-34F1-4CD3-DF8E06442756}"/>
              </a:ext>
            </a:extLst>
          </p:cNvPr>
          <p:cNvGrpSpPr/>
          <p:nvPr/>
        </p:nvGrpSpPr>
        <p:grpSpPr>
          <a:xfrm>
            <a:off x="453977" y="266635"/>
            <a:ext cx="1941584" cy="492233"/>
            <a:chOff x="2345798" y="232052"/>
            <a:chExt cx="1322848" cy="336301"/>
          </a:xfrm>
        </p:grpSpPr>
        <p:sp>
          <p:nvSpPr>
            <p:cNvPr id="32" name="Shape 1">
              <a:extLst>
                <a:ext uri="{FF2B5EF4-FFF2-40B4-BE49-F238E27FC236}">
                  <a16:creationId xmlns:a16="http://schemas.microsoft.com/office/drawing/2014/main" id="{9F7C41B3-511D-D05F-DE05-26FC5DCA9957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3" name="Text 2">
              <a:extLst>
                <a:ext uri="{FF2B5EF4-FFF2-40B4-BE49-F238E27FC236}">
                  <a16:creationId xmlns:a16="http://schemas.microsoft.com/office/drawing/2014/main" id="{D070B958-C677-0B65-7F32-A167E05062EC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70471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Aligned incentives.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49377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 — priced 40–60% below Western equivalents for SA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0" y="1801368"/>
            <a:ext cx="1371600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132320" y="1801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R399/mo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49377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40080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all payments processed through Paystack on the platform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2368296"/>
            <a:ext cx="1371600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132320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1.5% per txn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49377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40080" y="2871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marketplace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09981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on premium extensions and third-party connectors (Phase 2+)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2935224"/>
            <a:ext cx="1371600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132320" y="2935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92424"/>
            <a:ext cx="8229600" cy="49377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40080" y="3438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 Desk tier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66674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 tier unlocking full AI reception and insights layer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3502152"/>
            <a:ext cx="1371600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7132320" y="3502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493776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40080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NerovaPOS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23367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Tap-to-phone card payment app, directly connected to Nerova infrastructure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32320" y="4069080"/>
            <a:ext cx="1371600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31" name="Text 29"/>
          <p:cNvSpPr/>
          <p:nvPr/>
        </p:nvSpPr>
        <p:spPr>
          <a:xfrm>
            <a:off x="7132320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~100–150 active businesses  ·  CAC payback &lt; 1 month  ·  Target gross margin 70–80%</a:t>
            </a:r>
            <a:endParaRPr lang="en-US" sz="9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7EC0FEE-414A-8A51-0851-7FD153C63300}"/>
              </a:ext>
            </a:extLst>
          </p:cNvPr>
          <p:cNvGrpSpPr/>
          <p:nvPr/>
        </p:nvGrpSpPr>
        <p:grpSpPr>
          <a:xfrm>
            <a:off x="453977" y="294410"/>
            <a:ext cx="1941584" cy="492233"/>
            <a:chOff x="2345798" y="232052"/>
            <a:chExt cx="1322848" cy="336301"/>
          </a:xfrm>
        </p:grpSpPr>
        <p:sp>
          <p:nvSpPr>
            <p:cNvPr id="34" name="Shape 1">
              <a:extLst>
                <a:ext uri="{FF2B5EF4-FFF2-40B4-BE49-F238E27FC236}">
                  <a16:creationId xmlns:a16="http://schemas.microsoft.com/office/drawing/2014/main" id="{4D7F1FB3-2A4C-49E9-9723-81B5BADDE9E0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5" name="Text 2">
              <a:extLst>
                <a:ext uri="{FF2B5EF4-FFF2-40B4-BE49-F238E27FC236}">
                  <a16:creationId xmlns:a16="http://schemas.microsoft.com/office/drawing/2014/main" id="{C24492C7-7259-5F65-9E2F-1D7B4CE674E2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MODEL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31148" y="82000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Community-led growth.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cold outreach needed</a:t>
            </a: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784690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987395"/>
            <a:ext cx="2651760" cy="2843784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47472" y="221161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261395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leads → paying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2897418"/>
            <a:ext cx="2103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40080" y="3007146"/>
            <a:ext cx="223113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salons from primary research interviews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already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Flow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Paystack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on paid tier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from second month </a:t>
            </a:r>
            <a:endParaRPr lang="en-US" sz="1000" dirty="0"/>
          </a:p>
          <a:p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2826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94106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987395"/>
            <a:ext cx="2651760" cy="2843784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216402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100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16402" y="26151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0722" y="2898648"/>
            <a:ext cx="2103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509010" y="3008375"/>
            <a:ext cx="2212848" cy="115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beauty community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Tight-knit and trust-driven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groups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Value-first presence in salon owner communities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supply distributor partnerships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relationships with hundreds of salons.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38728" y="32826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38728" y="394106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987395"/>
            <a:ext cx="2651760" cy="2843782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126480" y="2208387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1,000+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26480" y="2610723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43650" y="2909914"/>
            <a:ext cx="21031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32" name="Text 30"/>
          <p:cNvSpPr/>
          <p:nvPr/>
        </p:nvSpPr>
        <p:spPr>
          <a:xfrm>
            <a:off x="6419088" y="3008375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and multi-location chains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connector architecture.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expansion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Paystack footprint: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Nigeria, Kenya,  &amp; Ghana.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19088" y="32826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9088" y="394106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21A219-92E2-0DEE-DDD9-D0E110448551}"/>
              </a:ext>
            </a:extLst>
          </p:cNvPr>
          <p:cNvGrpSpPr/>
          <p:nvPr/>
        </p:nvGrpSpPr>
        <p:grpSpPr>
          <a:xfrm>
            <a:off x="331148" y="222993"/>
            <a:ext cx="1941584" cy="492233"/>
            <a:chOff x="2345798" y="232052"/>
            <a:chExt cx="1322848" cy="336301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75E20224-81E2-BC64-7312-0AC55AD8837D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7387B13B-75CD-E3A6-A11D-F925B2D84329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GO-TO MARKET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68217" y="783107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Nobody is doing all of this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in this market…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6183" y="1640964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58263F0-E65A-B3BB-28B4-BE76A96CA3B7}"/>
              </a:ext>
            </a:extLst>
          </p:cNvPr>
          <p:cNvGrpSpPr/>
          <p:nvPr/>
        </p:nvGrpSpPr>
        <p:grpSpPr>
          <a:xfrm>
            <a:off x="457200" y="1860318"/>
            <a:ext cx="7589520" cy="2889504"/>
            <a:chOff x="457200" y="1860318"/>
            <a:chExt cx="7589520" cy="2889504"/>
          </a:xfrm>
        </p:grpSpPr>
        <p:sp>
          <p:nvSpPr>
            <p:cNvPr id="7" name="Shape 5"/>
            <p:cNvSpPr/>
            <p:nvPr/>
          </p:nvSpPr>
          <p:spPr>
            <a:xfrm>
              <a:off x="457200" y="1860318"/>
              <a:ext cx="1920240" cy="32918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1860318"/>
              <a:ext cx="19202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377440" y="1860318"/>
              <a:ext cx="1463040" cy="32918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0" name="Text 8"/>
            <p:cNvSpPr/>
            <p:nvPr/>
          </p:nvSpPr>
          <p:spPr>
            <a:xfrm>
              <a:off x="2377440" y="1860318"/>
              <a:ext cx="14630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Calendly / Acuity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840480" y="1860318"/>
              <a:ext cx="1280160" cy="32918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2" name="Text 10"/>
            <p:cNvSpPr/>
            <p:nvPr/>
          </p:nvSpPr>
          <p:spPr>
            <a:xfrm>
              <a:off x="3840480" y="1860318"/>
              <a:ext cx="12801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Fresha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120640" y="1860318"/>
              <a:ext cx="1554480" cy="32918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1860318"/>
              <a:ext cx="1554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WhatsApp alone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675120" y="1860318"/>
              <a:ext cx="1371600" cy="329184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Text 14"/>
            <p:cNvSpPr/>
            <p:nvPr/>
          </p:nvSpPr>
          <p:spPr>
            <a:xfrm>
              <a:off x="6675120" y="1860318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Nerova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7200" y="2207790"/>
              <a:ext cx="19202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 16"/>
            <p:cNvSpPr/>
            <p:nvPr/>
          </p:nvSpPr>
          <p:spPr>
            <a:xfrm>
              <a:off x="457200" y="220779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WhatsApp-native booking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377440" y="2207790"/>
              <a:ext cx="14630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Text 18"/>
            <p:cNvSpPr/>
            <p:nvPr/>
          </p:nvSpPr>
          <p:spPr>
            <a:xfrm>
              <a:off x="2377440" y="220779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840480" y="2207790"/>
              <a:ext cx="128016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" name="Text 20"/>
            <p:cNvSpPr/>
            <p:nvPr/>
          </p:nvSpPr>
          <p:spPr>
            <a:xfrm>
              <a:off x="3840480" y="220779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120640" y="2207790"/>
              <a:ext cx="155448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4" name="Text 22"/>
            <p:cNvSpPr/>
            <p:nvPr/>
          </p:nvSpPr>
          <p:spPr>
            <a:xfrm>
              <a:off x="5120640" y="220779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675120" y="220779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Text 24"/>
            <p:cNvSpPr/>
            <p:nvPr/>
          </p:nvSpPr>
          <p:spPr>
            <a:xfrm>
              <a:off x="6675120" y="220779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57200" y="2573550"/>
              <a:ext cx="192024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8" name="Text 26"/>
            <p:cNvSpPr/>
            <p:nvPr/>
          </p:nvSpPr>
          <p:spPr>
            <a:xfrm>
              <a:off x="457200" y="257355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SA-native payments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2377440" y="2573550"/>
              <a:ext cx="146304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Text 28"/>
            <p:cNvSpPr/>
            <p:nvPr/>
          </p:nvSpPr>
          <p:spPr>
            <a:xfrm>
              <a:off x="2377440" y="257355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840480" y="2573550"/>
              <a:ext cx="128016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Text 30"/>
            <p:cNvSpPr/>
            <p:nvPr/>
          </p:nvSpPr>
          <p:spPr>
            <a:xfrm>
              <a:off x="3840480" y="257355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120640" y="2573550"/>
              <a:ext cx="155448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Text 32"/>
            <p:cNvSpPr/>
            <p:nvPr/>
          </p:nvSpPr>
          <p:spPr>
            <a:xfrm>
              <a:off x="5120640" y="257355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675120" y="257355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6" name="Text 34"/>
            <p:cNvSpPr/>
            <p:nvPr/>
          </p:nvSpPr>
          <p:spPr>
            <a:xfrm>
              <a:off x="6675120" y="257355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57200" y="2939310"/>
              <a:ext cx="19202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38" name="Text 36"/>
            <p:cNvSpPr/>
            <p:nvPr/>
          </p:nvSpPr>
          <p:spPr>
            <a:xfrm>
              <a:off x="457200" y="293931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SA localised pricing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2377440" y="2939310"/>
              <a:ext cx="14630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0" name="Text 38"/>
            <p:cNvSpPr/>
            <p:nvPr/>
          </p:nvSpPr>
          <p:spPr>
            <a:xfrm>
              <a:off x="2377440" y="293931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840480" y="2939310"/>
              <a:ext cx="128016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2" name="Text 40"/>
            <p:cNvSpPr/>
            <p:nvPr/>
          </p:nvSpPr>
          <p:spPr>
            <a:xfrm>
              <a:off x="3840480" y="293931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5120640" y="2939310"/>
              <a:ext cx="155448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4" name="Text 42"/>
            <p:cNvSpPr/>
            <p:nvPr/>
          </p:nvSpPr>
          <p:spPr>
            <a:xfrm>
              <a:off x="5120640" y="293931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675120" y="293931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Text 44"/>
            <p:cNvSpPr/>
            <p:nvPr/>
          </p:nvSpPr>
          <p:spPr>
            <a:xfrm>
              <a:off x="6675120" y="293931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57200" y="3305070"/>
              <a:ext cx="192024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48" name="Text 46"/>
            <p:cNvSpPr/>
            <p:nvPr/>
          </p:nvSpPr>
          <p:spPr>
            <a:xfrm>
              <a:off x="457200" y="330507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Extensions hub</a:t>
              </a:r>
              <a:endParaRPr lang="en-US" sz="8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2377440" y="3305070"/>
              <a:ext cx="146304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2377440" y="330507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10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3840480" y="3305070"/>
              <a:ext cx="128016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52" name="Text 50"/>
            <p:cNvSpPr/>
            <p:nvPr/>
          </p:nvSpPr>
          <p:spPr>
            <a:xfrm>
              <a:off x="3840480" y="330507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Gated by payments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5120640" y="3305070"/>
              <a:ext cx="155448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54" name="Text 52"/>
            <p:cNvSpPr/>
            <p:nvPr/>
          </p:nvSpPr>
          <p:spPr>
            <a:xfrm>
              <a:off x="5120640" y="330507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6675120" y="330507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56" name="Text 54"/>
            <p:cNvSpPr/>
            <p:nvPr/>
          </p:nvSpPr>
          <p:spPr>
            <a:xfrm>
              <a:off x="6675120" y="330507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457200" y="3670830"/>
              <a:ext cx="19202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58" name="Text 56"/>
            <p:cNvSpPr/>
            <p:nvPr/>
          </p:nvSpPr>
          <p:spPr>
            <a:xfrm>
              <a:off x="457200" y="367083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AI front desk layer</a:t>
              </a:r>
              <a:endParaRPr lang="en-US" sz="85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2377440" y="3670830"/>
              <a:ext cx="14630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60" name="Text 58"/>
            <p:cNvSpPr/>
            <p:nvPr/>
          </p:nvSpPr>
          <p:spPr>
            <a:xfrm>
              <a:off x="2377440" y="367083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3840480" y="3670830"/>
              <a:ext cx="128016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62" name="Text 60"/>
            <p:cNvSpPr/>
            <p:nvPr/>
          </p:nvSpPr>
          <p:spPr>
            <a:xfrm>
              <a:off x="3840480" y="367083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5120640" y="3670830"/>
              <a:ext cx="155448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64" name="Text 62"/>
            <p:cNvSpPr/>
            <p:nvPr/>
          </p:nvSpPr>
          <p:spPr>
            <a:xfrm>
              <a:off x="5120640" y="367083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675120" y="367083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66" name="Text 64"/>
            <p:cNvSpPr/>
            <p:nvPr/>
          </p:nvSpPr>
          <p:spPr>
            <a:xfrm>
              <a:off x="6675120" y="367083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457200" y="4036590"/>
              <a:ext cx="192024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68" name="Text 66"/>
            <p:cNvSpPr/>
            <p:nvPr/>
          </p:nvSpPr>
          <p:spPr>
            <a:xfrm>
              <a:off x="457200" y="403659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Sells the service (not tool)</a:t>
              </a:r>
              <a:endParaRPr lang="en-US" sz="85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2377440" y="4036590"/>
              <a:ext cx="146304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70" name="Text 68"/>
            <p:cNvSpPr/>
            <p:nvPr/>
          </p:nvSpPr>
          <p:spPr>
            <a:xfrm>
              <a:off x="2377440" y="403659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840480" y="4036590"/>
              <a:ext cx="128016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72" name="Text 70"/>
            <p:cNvSpPr/>
            <p:nvPr/>
          </p:nvSpPr>
          <p:spPr>
            <a:xfrm>
              <a:off x="3840480" y="403659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5120640" y="4036590"/>
              <a:ext cx="1554480" cy="347472"/>
            </a:xfrm>
            <a:prstGeom prst="rect">
              <a:avLst/>
            </a:prstGeom>
            <a:solidFill>
              <a:srgbClr val="0A0A0A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74" name="Text 72"/>
            <p:cNvSpPr/>
            <p:nvPr/>
          </p:nvSpPr>
          <p:spPr>
            <a:xfrm>
              <a:off x="5120640" y="403659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675120" y="403659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76" name="Text 74"/>
            <p:cNvSpPr/>
            <p:nvPr/>
          </p:nvSpPr>
          <p:spPr>
            <a:xfrm>
              <a:off x="6675120" y="403659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457200" y="4402350"/>
              <a:ext cx="19202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78" name="Text 76"/>
            <p:cNvSpPr/>
            <p:nvPr/>
          </p:nvSpPr>
          <p:spPr>
            <a:xfrm>
              <a:off x="457200" y="4402350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76200" rIns="0" bIns="0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Payment at booking</a:t>
              </a:r>
              <a:endParaRPr lang="en-US" sz="8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2377440" y="4402350"/>
              <a:ext cx="146304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0" name="Text 78"/>
            <p:cNvSpPr/>
            <p:nvPr/>
          </p:nvSpPr>
          <p:spPr>
            <a:xfrm>
              <a:off x="2377440" y="4402350"/>
              <a:ext cx="1463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10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3840480" y="4402350"/>
              <a:ext cx="128016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2" name="Text 80"/>
            <p:cNvSpPr/>
            <p:nvPr/>
          </p:nvSpPr>
          <p:spPr>
            <a:xfrm>
              <a:off x="3840480" y="440235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100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5120640" y="4402350"/>
              <a:ext cx="1554480" cy="347472"/>
            </a:xfrm>
            <a:prstGeom prst="rect">
              <a:avLst/>
            </a:prstGeom>
            <a:solidFill>
              <a:srgbClr val="111111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4" name="Text 82"/>
            <p:cNvSpPr/>
            <p:nvPr/>
          </p:nvSpPr>
          <p:spPr>
            <a:xfrm>
              <a:off x="5120640" y="4402350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100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6675120" y="4402350"/>
              <a:ext cx="1371600" cy="347472"/>
            </a:xfrm>
            <a:prstGeom prst="rect">
              <a:avLst/>
            </a:prstGeom>
            <a:solidFill>
              <a:srgbClr val="151515"/>
            </a:solidFill>
            <a:ln w="3810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6" name="Text 84"/>
            <p:cNvSpPr/>
            <p:nvPr/>
          </p:nvSpPr>
          <p:spPr>
            <a:xfrm>
              <a:off x="6675120" y="440235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ADE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0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FF7B0BE-5D20-D006-B823-599C170F955C}"/>
              </a:ext>
            </a:extLst>
          </p:cNvPr>
          <p:cNvGrpSpPr/>
          <p:nvPr/>
        </p:nvGrpSpPr>
        <p:grpSpPr>
          <a:xfrm>
            <a:off x="457200" y="317774"/>
            <a:ext cx="1941584" cy="492233"/>
            <a:chOff x="2345798" y="232052"/>
            <a:chExt cx="1322848" cy="336301"/>
          </a:xfrm>
        </p:grpSpPr>
        <p:sp>
          <p:nvSpPr>
            <p:cNvPr id="88" name="Shape 1">
              <a:extLst>
                <a:ext uri="{FF2B5EF4-FFF2-40B4-BE49-F238E27FC236}">
                  <a16:creationId xmlns:a16="http://schemas.microsoft.com/office/drawing/2014/main" id="{9CFA9870-5692-A834-0FDD-B2BB8B451E1D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 dirty="0"/>
            </a:p>
          </p:txBody>
        </p:sp>
        <p:sp>
          <p:nvSpPr>
            <p:cNvPr id="89" name="Text 2">
              <a:extLst>
                <a:ext uri="{FF2B5EF4-FFF2-40B4-BE49-F238E27FC236}">
                  <a16:creationId xmlns:a16="http://schemas.microsoft.com/office/drawing/2014/main" id="{CF403720-F5D6-1198-53F1-49CF5E51193F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COMPETITION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82190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Built by someone who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lives in this market.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59798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489204" y="1814731"/>
            <a:ext cx="4114800" cy="30418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3126"/>
            <a:ext cx="3611880" cy="161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 IT student at Eduvos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production-quality codebase solo </a:t>
            </a:r>
          </a:p>
          <a:p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(.NET 10, React 19, Azure, Paystack, WhatsApp Flows)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in-person primary research with target 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problem through direct conversations, not reports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business experience </a:t>
            </a:r>
          </a:p>
          <a:p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(understands what founders get wrong and how to avoid it)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 parent as technical advisor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in business planned post-graduation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27706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" y="339242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" y="401421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10328" y="1814731"/>
            <a:ext cx="3886200" cy="30418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116068" y="19339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Resources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16068" y="2265169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45352" y="2224747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Core scheduling &amp; billing engine built; WhatsApp/AI layer in active integration</a:t>
            </a:r>
          </a:p>
        </p:txBody>
      </p:sp>
      <p:sp>
        <p:nvSpPr>
          <p:cNvPr id="21" name="Text 19"/>
          <p:cNvSpPr/>
          <p:nvPr/>
        </p:nvSpPr>
        <p:spPr>
          <a:xfrm>
            <a:off x="5116068" y="2704081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266365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salons on waitlist daily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16068" y="3142993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45352" y="310257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nerovasystems.com — live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16068" y="3581905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credits: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5352" y="3541483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USD secured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16068" y="4020817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credits: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45352" y="398039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R90,000+ provisionally accepted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16068" y="4459729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credits: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5352" y="4419307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$150,000 USD in pipeline</a:t>
            </a:r>
            <a:endParaRPr lang="en-US" sz="900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49E20E1D-52FF-2F87-DE3A-8343D70834F9}"/>
              </a:ext>
            </a:extLst>
          </p:cNvPr>
          <p:cNvSpPr/>
          <p:nvPr/>
        </p:nvSpPr>
        <p:spPr>
          <a:xfrm rot="16200000">
            <a:off x="4954473" y="3471854"/>
            <a:ext cx="2309294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5587474-B0C1-4513-EFD1-E4A280F0A312}"/>
              </a:ext>
            </a:extLst>
          </p:cNvPr>
          <p:cNvGrpSpPr/>
          <p:nvPr/>
        </p:nvGrpSpPr>
        <p:grpSpPr>
          <a:xfrm>
            <a:off x="457200" y="390516"/>
            <a:ext cx="2189110" cy="492233"/>
            <a:chOff x="2345798" y="232052"/>
            <a:chExt cx="1322848" cy="336301"/>
          </a:xfrm>
        </p:grpSpPr>
        <p:sp>
          <p:nvSpPr>
            <p:cNvPr id="32" name="Shape 1">
              <a:extLst>
                <a:ext uri="{FF2B5EF4-FFF2-40B4-BE49-F238E27FC236}">
                  <a16:creationId xmlns:a16="http://schemas.microsoft.com/office/drawing/2014/main" id="{8F5DA44C-024D-2E9B-FF94-4666BA1E04D9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 dirty="0"/>
            </a:p>
          </p:txBody>
        </p:sp>
        <p:sp>
          <p:nvSpPr>
            <p:cNvPr id="33" name="Text 2">
              <a:extLst>
                <a:ext uri="{FF2B5EF4-FFF2-40B4-BE49-F238E27FC236}">
                  <a16:creationId xmlns:a16="http://schemas.microsoft.com/office/drawing/2014/main" id="{83D45512-2327-3A8D-AF32-CCA96F4FBBBB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FOUNDER &amp; TRACTION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96643" y="75277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Conservative projections based on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real assumptions.</a:t>
            </a:r>
            <a:endParaRPr lang="en-US" sz="3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6643" y="1703450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4385"/>
              </p:ext>
            </p:extLst>
          </p:nvPr>
        </p:nvGraphicFramePr>
        <p:xfrm>
          <a:off x="396643" y="1915668"/>
          <a:ext cx="8229600" cy="1920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1 (conservative)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1 (base case)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Active businesses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30–50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80–150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300–600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1,000+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Avg subscription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R299–R399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R399–R599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R499–R699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R599–R999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Annual 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R100K–R250K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R400K–R800K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</a:rPr>
                        <a:t>R2M–R5M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R7M–R15M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Key milestone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PMF validation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Break-even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Referral proven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</a:rPr>
                        <a:t>Market leader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00507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45720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R200–R500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14600" y="400507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251460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month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1460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400507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457200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70–80%</a:t>
            </a:r>
            <a:endParaRPr lang="en-US" sz="1600" dirty="0"/>
          </a:p>
        </p:txBody>
      </p:sp>
      <p:sp>
        <p:nvSpPr>
          <p:cNvPr id="7" name="Text 13"/>
          <p:cNvSpPr/>
          <p:nvPr/>
        </p:nvSpPr>
        <p:spPr>
          <a:xfrm>
            <a:off x="457200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29400" y="4005072"/>
            <a:ext cx="192024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662940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5% monthly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2940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target</a:t>
            </a:r>
            <a:endParaRPr lang="en-US" sz="8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B3CA7A-9D69-2358-4B0A-949F31B227A7}"/>
              </a:ext>
            </a:extLst>
          </p:cNvPr>
          <p:cNvGrpSpPr/>
          <p:nvPr/>
        </p:nvGrpSpPr>
        <p:grpSpPr>
          <a:xfrm>
            <a:off x="396643" y="202711"/>
            <a:ext cx="1574659" cy="492233"/>
            <a:chOff x="2345798" y="232052"/>
            <a:chExt cx="1322848" cy="336301"/>
          </a:xfrm>
        </p:grpSpPr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DA3EF6ED-3023-B81E-7ED6-B945C3E86612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0C6100D1-A576-62D8-607E-A5959C389F58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FINANCES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D382-2D6D-C5C3-D9E7-6F7F1F00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AF5A6A-B9A3-72BB-B306-EC597EE9679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5E9A62-45D1-15B1-6A8B-C6B012E7FDB4}"/>
              </a:ext>
            </a:extLst>
          </p:cNvPr>
          <p:cNvSpPr/>
          <p:nvPr/>
        </p:nvSpPr>
        <p:spPr>
          <a:xfrm>
            <a:off x="457200" y="9471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One platform. </a:t>
            </a:r>
          </a:p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Complete business automation.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8154A4-CCDC-D1E1-42B6-0F4B04E3AD71}"/>
              </a:ext>
            </a:extLst>
          </p:cNvPr>
          <p:cNvSpPr/>
          <p:nvPr/>
        </p:nvSpPr>
        <p:spPr>
          <a:xfrm>
            <a:off x="327916" y="1992854"/>
            <a:ext cx="8229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251583-8583-1066-46A2-63782CD6E8F9}"/>
              </a:ext>
            </a:extLst>
          </p:cNvPr>
          <p:cNvSpPr/>
          <p:nvPr/>
        </p:nvSpPr>
        <p:spPr>
          <a:xfrm>
            <a:off x="297180" y="2176272"/>
            <a:ext cx="2606040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DAB0C8-3610-D90D-5324-AC18FA6541B5}"/>
              </a:ext>
            </a:extLst>
          </p:cNvPr>
          <p:cNvSpPr/>
          <p:nvPr/>
        </p:nvSpPr>
        <p:spPr>
          <a:xfrm>
            <a:off x="457200" y="222330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090EE8D-3E5C-C9C1-A716-02BAC021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30" y="2465182"/>
            <a:ext cx="387659" cy="387659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54A33335-5811-2208-93DF-D2D13D37728C}"/>
              </a:ext>
            </a:extLst>
          </p:cNvPr>
          <p:cNvSpPr/>
          <p:nvPr/>
        </p:nvSpPr>
        <p:spPr>
          <a:xfrm>
            <a:off x="411480" y="28286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Automation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3DE549-0CCA-7A1C-6E5A-1195FE36082F}"/>
              </a:ext>
            </a:extLst>
          </p:cNvPr>
          <p:cNvSpPr/>
          <p:nvPr/>
        </p:nvSpPr>
        <p:spPr>
          <a:xfrm>
            <a:off x="413230" y="3166552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/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(stock/trends)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F17468D-80EB-D26F-FE74-161AD3BD5C52}"/>
              </a:ext>
            </a:extLst>
          </p:cNvPr>
          <p:cNvSpPr/>
          <p:nvPr/>
        </p:nvSpPr>
        <p:spPr>
          <a:xfrm>
            <a:off x="3131820" y="2176272"/>
            <a:ext cx="2606040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A47C897-00B7-D525-D90D-198CB4ED05C4}"/>
              </a:ext>
            </a:extLst>
          </p:cNvPr>
          <p:cNvSpPr/>
          <p:nvPr/>
        </p:nvSpPr>
        <p:spPr>
          <a:xfrm>
            <a:off x="328626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840FABD7-1F7A-FA0B-4DA2-8CB80ECBE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542" y="2425183"/>
            <a:ext cx="411480" cy="41148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4BAFEFEF-EB82-D628-BFDF-317657AA1CA7}"/>
              </a:ext>
            </a:extLst>
          </p:cNvPr>
          <p:cNvSpPr/>
          <p:nvPr/>
        </p:nvSpPr>
        <p:spPr>
          <a:xfrm>
            <a:off x="3240542" y="2806782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Integrations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4329965-2B6F-0CE7-828D-0C8EE484C2D4}"/>
              </a:ext>
            </a:extLst>
          </p:cNvPr>
          <p:cNvSpPr/>
          <p:nvPr/>
        </p:nvSpPr>
        <p:spPr>
          <a:xfrm>
            <a:off x="3280410" y="3341095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upfront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post-session payment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commitment enforced</a:t>
            </a:r>
            <a:endParaRPr lang="en-US" sz="11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868D74D-6ACB-5819-D106-1E182148D8FF}"/>
              </a:ext>
            </a:extLst>
          </p:cNvPr>
          <p:cNvSpPr/>
          <p:nvPr/>
        </p:nvSpPr>
        <p:spPr>
          <a:xfrm>
            <a:off x="5966460" y="2176272"/>
            <a:ext cx="2606040" cy="2542257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01EDBAC-3F28-4CC2-000A-ACD96FB4E7F1}"/>
              </a:ext>
            </a:extLst>
          </p:cNvPr>
          <p:cNvSpPr/>
          <p:nvPr/>
        </p:nvSpPr>
        <p:spPr>
          <a:xfrm>
            <a:off x="6115323" y="219978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AAE5DC88-5E7E-FFA7-D845-9BCF4C964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227" y="2453070"/>
            <a:ext cx="355706" cy="355706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653310EE-C53D-19CE-CDED-1CD4C7A1BFCE}"/>
              </a:ext>
            </a:extLst>
          </p:cNvPr>
          <p:cNvSpPr/>
          <p:nvPr/>
        </p:nvSpPr>
        <p:spPr>
          <a:xfrm>
            <a:off x="6126480" y="277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315EA657-9C77-F258-AB18-887BD4078303}"/>
              </a:ext>
            </a:extLst>
          </p:cNvPr>
          <p:cNvSpPr/>
          <p:nvPr/>
        </p:nvSpPr>
        <p:spPr>
          <a:xfrm>
            <a:off x="6126480" y="3345972"/>
            <a:ext cx="2606040" cy="1691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booking experience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book, confirm, and receive reminders without leaving the app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most  SA citizens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64CA16-EE1A-6A21-79F2-3BDEEE4AD7EA}"/>
              </a:ext>
            </a:extLst>
          </p:cNvPr>
          <p:cNvGrpSpPr/>
          <p:nvPr/>
        </p:nvGrpSpPr>
        <p:grpSpPr>
          <a:xfrm>
            <a:off x="3601208" y="346742"/>
            <a:ext cx="1941584" cy="492233"/>
            <a:chOff x="2345798" y="232052"/>
            <a:chExt cx="1322848" cy="336301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59D1E5B3-0DD3-FB2B-9AED-0603464A3096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480B5B48-ED7B-CAE2-8CE6-87099D488601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NEXT STAGE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2983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914400" y="841008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The Shopify for</a:t>
            </a:r>
            <a:endParaRPr lang="en-US" sz="3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Aharoni" panose="02010803020104030203" pitchFamily="2" charset="-79"/>
                <a:ea typeface="Georgia" pitchFamily="34" charset="-122"/>
                <a:cs typeface="Aharoni" panose="02010803020104030203" pitchFamily="2" charset="-79"/>
              </a:rPr>
              <a:t>African service businesses.</a:t>
            </a:r>
            <a:endParaRPr lang="en-US" sz="3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1" y="2304287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appointment-based business in Africa running on one integrated platform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payments, scheduling, extensions, and AI front desk.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090672"/>
            <a:ext cx="6400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10,000+ businesses on platform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Pan-African expansion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AI-native operations layer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Extensions marketplace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3703320"/>
            <a:ext cx="694944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097280" y="3703320"/>
            <a:ext cx="45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261872" y="37947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"AI-native companies that don't sell software — they sell the service."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 Combinator, Requests for Startups 2026</a:t>
            </a:r>
            <a:endParaRPr lang="en-US" sz="10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65840C-C533-1B16-808A-B9C140804217}"/>
              </a:ext>
            </a:extLst>
          </p:cNvPr>
          <p:cNvGrpSpPr/>
          <p:nvPr/>
        </p:nvGrpSpPr>
        <p:grpSpPr>
          <a:xfrm>
            <a:off x="3766382" y="320316"/>
            <a:ext cx="1574659" cy="492233"/>
            <a:chOff x="2345798" y="232052"/>
            <a:chExt cx="1322848" cy="336301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29468399-4E58-A815-F0FB-E7C6E489ACB1}"/>
                </a:ext>
              </a:extLst>
            </p:cNvPr>
            <p:cNvSpPr/>
            <p:nvPr/>
          </p:nvSpPr>
          <p:spPr>
            <a:xfrm>
              <a:off x="2345798" y="232052"/>
              <a:ext cx="1322848" cy="336301"/>
            </a:xfrm>
            <a:prstGeom prst="roundRect">
              <a:avLst>
                <a:gd name="adj" fmla="val 50000"/>
              </a:avLst>
            </a:prstGeom>
            <a:solidFill>
              <a:srgbClr val="222222"/>
            </a:solidFill>
            <a:ln w="9525">
              <a:solidFill>
                <a:srgbClr val="2A2A2A"/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81275A37-F443-6AA6-995A-054152799BA7}"/>
                </a:ext>
              </a:extLst>
            </p:cNvPr>
            <p:cNvSpPr/>
            <p:nvPr/>
          </p:nvSpPr>
          <p:spPr>
            <a:xfrm>
              <a:off x="2384516" y="264430"/>
              <a:ext cx="124541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kern="0" spc="15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VISION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461</TotalTime>
  <Words>1603</Words>
  <Application>Microsoft Office PowerPoint</Application>
  <PresentationFormat>On-screen Show (16:9)</PresentationFormat>
  <Paragraphs>399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Aharoni</vt:lpstr>
      <vt:lpstr>Arial</vt:lpstr>
      <vt:lpstr>Calibri</vt:lpstr>
      <vt:lpstr>Calibri Light</vt:lpstr>
      <vt:lpstr>Georgia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Nerova Bookings — Investor Pitch Deck</dc:title>
  <dc:subject>PptxGenJS Presentation</dc:subject>
  <dc:creator>Nerova Systems</dc:creator>
  <cp:lastModifiedBy>Colin Swart</cp:lastModifiedBy>
  <cp:revision>49</cp:revision>
  <dcterms:created xsi:type="dcterms:W3CDTF">2026-06-01T11:07:09Z</dcterms:created>
  <dcterms:modified xsi:type="dcterms:W3CDTF">2026-06-09T18:44:56Z</dcterms:modified>
</cp:coreProperties>
</file>